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Process 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1371600" cy="91440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86000" y="2743200.0"/>
            <a:ext cx="274320" cy="0.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560320" y="2286000"/>
            <a:ext cx="1371600" cy="91440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2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931920" y="2743200.0"/>
            <a:ext cx="274320" cy="0.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4206240" y="2286000"/>
            <a:ext cx="1371600" cy="91440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3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577840" y="2743200.0"/>
            <a:ext cx="274320" cy="0.0"/>
          </a:xfrm>
          <a:prstGeom prst="line">
            <a:avLst/>
          </a:prstGeom>
          <a:ln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852160" y="2286000"/>
            <a:ext cx="1371600" cy="914400"/>
          </a:xfrm>
          <a:prstGeom prst="roundRect">
            <a:avLst/>
          </a:prstGeom>
          <a:solidFill>
            <a:srgbClr val="4472C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Step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Timeline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914400" y="3200400"/>
            <a:ext cx="7315200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2606040" y="3063240"/>
            <a:ext cx="274320" cy="27432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05740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Jan 2024\nStart</a:t>
            </a:r>
          </a:p>
        </p:txBody>
      </p:sp>
      <p:sp>
        <p:nvSpPr>
          <p:cNvPr id="6" name="Oval 5"/>
          <p:cNvSpPr/>
          <p:nvPr/>
        </p:nvSpPr>
        <p:spPr>
          <a:xfrm>
            <a:off x="4434840" y="3063240"/>
            <a:ext cx="274320" cy="27432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86200" y="22860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Mar 2024\nMilestone 1</a:t>
            </a:r>
          </a:p>
        </p:txBody>
      </p:sp>
      <p:sp>
        <p:nvSpPr>
          <p:cNvPr id="8" name="Oval 7"/>
          <p:cNvSpPr/>
          <p:nvPr/>
        </p:nvSpPr>
        <p:spPr>
          <a:xfrm>
            <a:off x="6263640" y="3063240"/>
            <a:ext cx="274320" cy="274320"/>
          </a:xfrm>
          <a:prstGeom prst="ellipse">
            <a:avLst/>
          </a:prstGeom>
          <a:solidFill>
            <a:srgbClr val="FF00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715000" y="34747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/>
            </a:pPr>
            <a:r>
              <a:t>Jun 2024\nRelease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3566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Basic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6888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• Feature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• Feature 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1828800"/>
            <a:ext cx="3566160" cy="457200"/>
          </a:xfrm>
          <a:prstGeom prst="rect">
            <a:avLst/>
          </a:prstGeom>
          <a:solidFill>
            <a:srgbClr val="FFEB3B"/>
          </a:solidFill>
        </p:spPr>
        <p:txBody>
          <a:bodyPr wrap="none">
            <a:spAutoFit/>
          </a:bodyPr>
          <a:lstStyle/>
          <a:p>
            <a:r>
              <a:t>Premium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246888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• Feature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283464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• Feature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32004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• Feature 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i="1"/>
            </a:pPr>
            <a:r>
              <a:t>"Testing is the key to quality software"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/>
            </a:pPr>
            <a:r>
              <a:t>— Software Engineer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